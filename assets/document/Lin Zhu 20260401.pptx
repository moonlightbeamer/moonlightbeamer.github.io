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43539-7211-3A4B-956E-50775552B3F4}" v="53" dt="2026-04-01T18:54:32.789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695" autoAdjust="0"/>
    <p:restoredTop sz="96205" autoAdjust="0"/>
  </p:normalViewPr>
  <p:slideViewPr>
    <p:cSldViewPr snapToGrid="0" showGuides="1">
      <p:cViewPr varScale="1">
        <p:scale>
          <a:sx n="140" d="100"/>
          <a:sy n="140" d="100"/>
        </p:scale>
        <p:origin x="1560" y="4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u, Lin" userId="99299c49-b841-42dc-9b8a-7393aa9450d4" providerId="ADAL" clId="{08EB58D8-8803-5695-939A-5E9A157AA661}"/>
    <pc:docChg chg="undo custSel modSld">
      <pc:chgData name="Zhu, Lin" userId="99299c49-b841-42dc-9b8a-7393aa9450d4" providerId="ADAL" clId="{08EB58D8-8803-5695-939A-5E9A157AA661}" dt="2026-04-01T18:54:32.789" v="605" actId="1076"/>
      <pc:docMkLst>
        <pc:docMk/>
      </pc:docMkLst>
      <pc:sldChg chg="addSp modSp mod">
        <pc:chgData name="Zhu, Lin" userId="99299c49-b841-42dc-9b8a-7393aa9450d4" providerId="ADAL" clId="{08EB58D8-8803-5695-939A-5E9A157AA661}" dt="2026-04-01T18:54:32.789" v="605" actId="1076"/>
        <pc:sldMkLst>
          <pc:docMk/>
          <pc:sldMk cId="68450859" sldId="339"/>
        </pc:sldMkLst>
        <pc:spChg chg="add mod">
          <ac:chgData name="Zhu, Lin" userId="99299c49-b841-42dc-9b8a-7393aa9450d4" providerId="ADAL" clId="{08EB58D8-8803-5695-939A-5E9A157AA661}" dt="2026-04-01T18:48:19.056" v="553" actId="1076"/>
          <ac:spMkLst>
            <pc:docMk/>
            <pc:sldMk cId="68450859" sldId="339"/>
            <ac:spMk id="5" creationId="{7E0E4117-32EB-371C-BBD1-0C1E95B105F5}"/>
          </ac:spMkLst>
        </pc:spChg>
        <pc:spChg chg="mod">
          <ac:chgData name="Zhu, Lin" userId="99299c49-b841-42dc-9b8a-7393aa9450d4" providerId="ADAL" clId="{08EB58D8-8803-5695-939A-5E9A157AA661}" dt="2026-04-01T18:46:25.786" v="550" actId="20577"/>
          <ac:spMkLst>
            <pc:docMk/>
            <pc:sldMk cId="68450859" sldId="339"/>
            <ac:spMk id="8" creationId="{1DADE6B0-1405-4228-8E12-1BFE194BED9D}"/>
          </ac:spMkLst>
        </pc:spChg>
        <pc:spChg chg="mod">
          <ac:chgData name="Zhu, Lin" userId="99299c49-b841-42dc-9b8a-7393aa9450d4" providerId="ADAL" clId="{08EB58D8-8803-5695-939A-5E9A157AA661}" dt="2026-04-01T18:35:05.657" v="64" actId="20577"/>
          <ac:spMkLst>
            <pc:docMk/>
            <pc:sldMk cId="68450859" sldId="339"/>
            <ac:spMk id="13" creationId="{B0C6FDF6-1B19-194E-6689-2727811AD9CB}"/>
          </ac:spMkLst>
        </pc:spChg>
        <pc:spChg chg="mod">
          <ac:chgData name="Zhu, Lin" userId="99299c49-b841-42dc-9b8a-7393aa9450d4" providerId="ADAL" clId="{08EB58D8-8803-5695-939A-5E9A157AA661}" dt="2026-04-01T18:33:18.186" v="7" actId="20577"/>
          <ac:spMkLst>
            <pc:docMk/>
            <pc:sldMk cId="68450859" sldId="339"/>
            <ac:spMk id="127" creationId="{7C1D9226-740C-46F4-BEF2-F1A7F248FED1}"/>
          </ac:spMkLst>
        </pc:spChg>
        <pc:picChg chg="add mod">
          <ac:chgData name="Zhu, Lin" userId="99299c49-b841-42dc-9b8a-7393aa9450d4" providerId="ADAL" clId="{08EB58D8-8803-5695-939A-5E9A157AA661}" dt="2026-04-01T18:54:16.828" v="603" actId="171"/>
          <ac:picMkLst>
            <pc:docMk/>
            <pc:sldMk cId="68450859" sldId="339"/>
            <ac:picMk id="11" creationId="{091879DF-0628-CE7E-70CA-7F27F73C8FD1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46" creationId="{96B87DEC-4236-6442-B8A0-591D292ADC7A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48" creationId="{27F86571-0138-25C8-40E6-EC5B48CFCA38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49" creationId="{C8AEC700-9D54-0E30-6A92-8D973874D6F3}"/>
          </ac:picMkLst>
        </pc:picChg>
        <pc:picChg chg="mod">
          <ac:chgData name="Zhu, Lin" userId="99299c49-b841-42dc-9b8a-7393aa9450d4" providerId="ADAL" clId="{08EB58D8-8803-5695-939A-5E9A157AA661}" dt="2026-04-01T18:50:50.290" v="585" actId="1037"/>
          <ac:picMkLst>
            <pc:docMk/>
            <pc:sldMk cId="68450859" sldId="339"/>
            <ac:picMk id="1051" creationId="{7A7E674D-FB6D-5E09-4090-FA5503746A1E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53" creationId="{BC05A1E2-1C1C-22E0-CEBF-F154A94CD12A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55" creationId="{F1BBC4EB-CD8B-64A6-C23B-144428513A0F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56" creationId="{1B812C65-F361-4721-10D1-76FA94894157}"/>
          </ac:picMkLst>
        </pc:picChg>
        <pc:picChg chg="mod">
          <ac:chgData name="Zhu, Lin" userId="99299c49-b841-42dc-9b8a-7393aa9450d4" providerId="ADAL" clId="{08EB58D8-8803-5695-939A-5E9A157AA661}" dt="2026-04-01T18:53:53.962" v="601" actId="14100"/>
          <ac:picMkLst>
            <pc:docMk/>
            <pc:sldMk cId="68450859" sldId="339"/>
            <ac:picMk id="1057" creationId="{A5151C1A-9EF8-D1E5-9520-BD7F47667C8A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59" creationId="{73A6E599-4908-E33E-3289-FF302DE78DD2}"/>
          </ac:picMkLst>
        </pc:picChg>
        <pc:picChg chg="mod">
          <ac:chgData name="Zhu, Lin" userId="99299c49-b841-42dc-9b8a-7393aa9450d4" providerId="ADAL" clId="{08EB58D8-8803-5695-939A-5E9A157AA661}" dt="2026-04-01T18:51:02.238" v="592" actId="1035"/>
          <ac:picMkLst>
            <pc:docMk/>
            <pc:sldMk cId="68450859" sldId="339"/>
            <ac:picMk id="1060" creationId="{99314155-41BE-941A-CAB0-E57E6DA3690A}"/>
          </ac:picMkLst>
        </pc:picChg>
        <pc:picChg chg="mod">
          <ac:chgData name="Zhu, Lin" userId="99299c49-b841-42dc-9b8a-7393aa9450d4" providerId="ADAL" clId="{08EB58D8-8803-5695-939A-5E9A157AA661}" dt="2026-04-01T18:54:32.789" v="605" actId="1076"/>
          <ac:picMkLst>
            <pc:docMk/>
            <pc:sldMk cId="68450859" sldId="339"/>
            <ac:picMk id="1061" creationId="{D47B47F3-0DF1-2B76-8974-EA1239B970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4/1/26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cc_Tech_Logo_WH" descr="Accenture Technology wordmark in white">
            <a:extLst>
              <a:ext uri="{FF2B5EF4-FFF2-40B4-BE49-F238E27FC236}">
                <a16:creationId xmlns:a16="http://schemas.microsoft.com/office/drawing/2014/main" id="{72ABE559-DDA6-42E5-A056-2B5EB29BBBB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591812" y="5936500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914400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880" userDrawn="1">
          <p15:clr>
            <a:srgbClr val="C35EA4"/>
          </p15:clr>
        </p15:guide>
        <p15:guide id="4" orient="horz" pos="2162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1005840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Acc_Tech_Logo_WH" descr="Accenture Technology wordmark in white">
            <a:extLst>
              <a:ext uri="{FF2B5EF4-FFF2-40B4-BE49-F238E27FC236}">
                <a16:creationId xmlns:a16="http://schemas.microsoft.com/office/drawing/2014/main" id="{8699B1E1-A3CB-40D5-A44A-1E73CBFEE9C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591812" y="5936500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  <p15:guide id="4" orient="horz" pos="947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00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ume: 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Detail:Job Experience">
            <a:extLst>
              <a:ext uri="{FF2B5EF4-FFF2-40B4-BE49-F238E27FC236}">
                <a16:creationId xmlns:a16="http://schemas.microsoft.com/office/drawing/2014/main" id="{4647FB51-A60D-4010-B2F2-62CF8F3D53E5}"/>
              </a:ext>
            </a:extLst>
          </p:cNvPr>
          <p:cNvSpPr>
            <a:spLocks noGrp="1"/>
          </p:cNvSpPr>
          <p:nvPr>
            <p:ph type="body" sz="quarter" idx="300" hasCustomPrompt="1"/>
          </p:nvPr>
        </p:nvSpPr>
        <p:spPr>
          <a:xfrm>
            <a:off x="5439992" y="1693623"/>
            <a:ext cx="6371008" cy="5159303"/>
          </a:xfrm>
          <a:prstGeom prst="rect">
            <a:avLst/>
          </a:prstGeom>
        </p:spPr>
        <p:txBody>
          <a:bodyPr rIns="182880">
            <a:normAutofit/>
          </a:bodyPr>
          <a:lstStyle>
            <a:lvl1pPr marL="118872" indent="-118872">
              <a:lnSpc>
                <a:spcPct val="100000"/>
              </a:lnSpc>
              <a:spcBef>
                <a:spcPts val="600"/>
              </a:spcBef>
              <a:spcAft>
                <a:spcPts val="10"/>
              </a:spcAft>
              <a:buFont typeface="Wingdings" panose="05000000000000000000" pitchFamily="2" charset="2"/>
              <a:buChar char="§"/>
              <a:defRPr kumimoji="0" lang="en-US" sz="10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黑体" panose="02010609060101010101" pitchFamily="49" charset="-122"/>
                <a:cs typeface="Arial"/>
              </a:defRPr>
            </a:lvl1pPr>
            <a:lvl2pPr marL="22860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Tx/>
              <a:buFontTx/>
              <a:buNone/>
              <a:tabLst/>
              <a:defRPr sz="1000"/>
            </a:lvl2pPr>
            <a:lvl3pPr marL="228600" indent="-118872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000"/>
            </a:lvl3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Job Title</a:t>
            </a:r>
          </a:p>
          <a:p>
            <a:pPr marL="91440" marR="0" lvl="1" indent="-210312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Job Description No Bullets</a:t>
            </a:r>
          </a:p>
          <a:p>
            <a:pPr marL="0" marR="0" lvl="2" indent="-210312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Job Description With Bullets</a:t>
            </a:r>
          </a:p>
          <a:p>
            <a:pPr marL="91440" marR="0" lvl="1" indent="-210312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grpSp>
        <p:nvGrpSpPr>
          <p:cNvPr id="2" name="Title:Selected Experience">
            <a:extLst>
              <a:ext uri="{FF2B5EF4-FFF2-40B4-BE49-F238E27FC236}">
                <a16:creationId xmlns:a16="http://schemas.microsoft.com/office/drawing/2014/main" id="{2ADEE77F-29FB-4CA4-902E-4B475DD94632}"/>
              </a:ext>
            </a:extLst>
          </p:cNvPr>
          <p:cNvGrpSpPr/>
          <p:nvPr userDrawn="1"/>
        </p:nvGrpSpPr>
        <p:grpSpPr>
          <a:xfrm>
            <a:off x="5439992" y="1310833"/>
            <a:ext cx="6371008" cy="338469"/>
            <a:chOff x="5439992" y="1162903"/>
            <a:chExt cx="6371008" cy="338469"/>
          </a:xfrm>
        </p:grpSpPr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BFE1AC2B-139B-49A4-9847-042BF9EA09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439992" y="1501372"/>
              <a:ext cx="6371008" cy="0"/>
            </a:xfrm>
            <a:prstGeom prst="line">
              <a:avLst/>
            </a:prstGeom>
            <a:noFill/>
            <a:ln w="28575">
              <a:solidFill>
                <a:srgbClr val="404040"/>
              </a:solidFill>
              <a:round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2" name="Rectangle 7">
              <a:extLst>
                <a:ext uri="{FF2B5EF4-FFF2-40B4-BE49-F238E27FC236}">
                  <a16:creationId xmlns:a16="http://schemas.microsoft.com/office/drawing/2014/main" id="{DFDC65E6-C741-4F69-B674-8A5AF2511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0032" y="1236871"/>
              <a:ext cx="4113193" cy="2571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45720" rIns="45720" anchor="b"/>
            <a:lstStyle/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all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Graphik Black" panose="020B0A03030202060203" pitchFamily="34" charset="0"/>
                  <a:ea typeface="+mn-ea"/>
                  <a:cs typeface="Arial" charset="0"/>
                </a:rPr>
                <a:t>Selected Relevant Experience 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6BF1768-2C0C-493D-9A0E-5858C5C13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39992" y="1162903"/>
              <a:ext cx="320040" cy="320040"/>
            </a:xfrm>
            <a:prstGeom prst="rect">
              <a:avLst/>
            </a:prstGeom>
          </p:spPr>
        </p:pic>
      </p:grpSp>
      <p:sp>
        <p:nvSpPr>
          <p:cNvPr id="600" name="Detail:Certifications">
            <a:extLst>
              <a:ext uri="{FF2B5EF4-FFF2-40B4-BE49-F238E27FC236}">
                <a16:creationId xmlns:a16="http://schemas.microsoft.com/office/drawing/2014/main" id="{048CCDC5-B386-43C2-B172-6E9C02401D9D}"/>
              </a:ext>
            </a:extLst>
          </p:cNvPr>
          <p:cNvSpPr>
            <a:spLocks noGrp="1"/>
          </p:cNvSpPr>
          <p:nvPr>
            <p:ph type="body" sz="quarter" idx="600" hasCustomPrompt="1"/>
          </p:nvPr>
        </p:nvSpPr>
        <p:spPr>
          <a:xfrm>
            <a:off x="2910497" y="5383387"/>
            <a:ext cx="2432107" cy="1293849"/>
          </a:xfrm>
          <a:prstGeom prst="rect">
            <a:avLst/>
          </a:prstGeom>
        </p:spPr>
        <p:txBody>
          <a:bodyPr>
            <a:normAutofit/>
          </a:bodyPr>
          <a:lstStyle>
            <a:lvl1pPr marL="118872" indent="-118872">
              <a:spcBef>
                <a:spcPts val="18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0" lang="en-US" sz="10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黑体" panose="02010609060101010101" pitchFamily="49" charset="-122"/>
                <a:cs typeface="Arial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defRPr sz="1000"/>
            </a:lvl2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Certifications</a:t>
            </a:r>
          </a:p>
          <a:p>
            <a:pPr marL="228600" marR="0" lvl="1" indent="-347472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Level 2</a:t>
            </a:r>
          </a:p>
        </p:txBody>
      </p:sp>
      <p:grpSp>
        <p:nvGrpSpPr>
          <p:cNvPr id="68" name="Title:Certifications">
            <a:extLst>
              <a:ext uri="{FF2B5EF4-FFF2-40B4-BE49-F238E27FC236}">
                <a16:creationId xmlns:a16="http://schemas.microsoft.com/office/drawing/2014/main" id="{060704BB-D3A7-44F1-A89C-497C7C0B73CC}"/>
              </a:ext>
            </a:extLst>
          </p:cNvPr>
          <p:cNvGrpSpPr/>
          <p:nvPr userDrawn="1"/>
        </p:nvGrpSpPr>
        <p:grpSpPr>
          <a:xfrm>
            <a:off x="2913542" y="5017274"/>
            <a:ext cx="2428947" cy="359954"/>
            <a:chOff x="2988242" y="5059864"/>
            <a:chExt cx="2340864" cy="35995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874605F-C96F-4612-BCD0-4197E5874900}"/>
                </a:ext>
              </a:extLst>
            </p:cNvPr>
            <p:cNvGrpSpPr/>
            <p:nvPr userDrawn="1"/>
          </p:nvGrpSpPr>
          <p:grpSpPr>
            <a:xfrm>
              <a:off x="2991979" y="5059864"/>
              <a:ext cx="2172461" cy="359954"/>
              <a:chOff x="2992083" y="4925518"/>
              <a:chExt cx="2172461" cy="359954"/>
            </a:xfrm>
          </p:grpSpPr>
          <p:sp>
            <p:nvSpPr>
              <p:cNvPr id="37" name="Rectangle 9">
                <a:extLst>
                  <a:ext uri="{FF2B5EF4-FFF2-40B4-BE49-F238E27FC236}">
                    <a16:creationId xmlns:a16="http://schemas.microsoft.com/office/drawing/2014/main" id="{CBF229A1-460A-4542-A440-0A2FEBE30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4088" y="5017583"/>
                <a:ext cx="1890456" cy="2678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45720" rIns="45720" anchor="b"/>
              <a:lstStyle/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all" spc="0" normalizeH="0" baseline="0" noProof="0" dirty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Graphik Black" panose="020B0A03030202060203" pitchFamily="34" charset="0"/>
                    <a:ea typeface="+mn-ea"/>
                    <a:cs typeface="Arial" charset="0"/>
                  </a:rPr>
                  <a:t>Certifications</a:t>
                </a:r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6243B8CF-BE75-4BA2-8FEE-4F4447D76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992083" y="4925518"/>
                <a:ext cx="320040" cy="320040"/>
              </a:xfrm>
              <a:prstGeom prst="rect">
                <a:avLst/>
              </a:prstGeom>
            </p:spPr>
          </p:pic>
        </p:grpSp>
        <p:sp>
          <p:nvSpPr>
            <p:cNvPr id="42" name="Line 10">
              <a:extLst>
                <a:ext uri="{FF2B5EF4-FFF2-40B4-BE49-F238E27FC236}">
                  <a16:creationId xmlns:a16="http://schemas.microsoft.com/office/drawing/2014/main" id="{3ED953EB-D7B7-445F-8307-0C1BF526EE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988242" y="5408505"/>
              <a:ext cx="2340864" cy="0"/>
            </a:xfrm>
            <a:prstGeom prst="line">
              <a:avLst/>
            </a:prstGeom>
            <a:noFill/>
            <a:ln w="28575">
              <a:solidFill>
                <a:srgbClr val="404040"/>
              </a:solidFill>
              <a:round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500" name="Detail:Industry Experience">
            <a:extLst>
              <a:ext uri="{FF2B5EF4-FFF2-40B4-BE49-F238E27FC236}">
                <a16:creationId xmlns:a16="http://schemas.microsoft.com/office/drawing/2014/main" id="{056568FE-5E4F-46E9-9EEE-2731D3F84EF3}"/>
              </a:ext>
            </a:extLst>
          </p:cNvPr>
          <p:cNvSpPr>
            <a:spLocks noGrp="1"/>
          </p:cNvSpPr>
          <p:nvPr>
            <p:ph type="body" sz="quarter" idx="500" hasCustomPrompt="1"/>
          </p:nvPr>
        </p:nvSpPr>
        <p:spPr>
          <a:xfrm>
            <a:off x="394500" y="5383388"/>
            <a:ext cx="2432304" cy="1293849"/>
          </a:xfrm>
          <a:prstGeom prst="rect">
            <a:avLst/>
          </a:prstGeom>
        </p:spPr>
        <p:txBody>
          <a:bodyPr>
            <a:normAutofit/>
          </a:bodyPr>
          <a:lstStyle>
            <a:lvl1pPr marL="118872" indent="-118872">
              <a:spcBef>
                <a:spcPts val="18"/>
              </a:spcBef>
              <a:spcAft>
                <a:spcPts val="150"/>
              </a:spcAft>
              <a:buFont typeface="Wingdings" panose="05000000000000000000" pitchFamily="2" charset="2"/>
              <a:buChar char="§"/>
              <a:defRPr kumimoji="0" lang="en-US" sz="10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黑体" panose="02010609060101010101" pitchFamily="49" charset="-122"/>
                <a:cs typeface="Arial"/>
              </a:defRPr>
            </a:lvl1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Industry</a:t>
            </a:r>
          </a:p>
        </p:txBody>
      </p:sp>
      <p:grpSp>
        <p:nvGrpSpPr>
          <p:cNvPr id="62" name="Title:Industry Experence">
            <a:extLst>
              <a:ext uri="{FF2B5EF4-FFF2-40B4-BE49-F238E27FC236}">
                <a16:creationId xmlns:a16="http://schemas.microsoft.com/office/drawing/2014/main" id="{8B0D16E4-B46B-4F84-86ED-CAC778C21536}"/>
              </a:ext>
            </a:extLst>
          </p:cNvPr>
          <p:cNvGrpSpPr/>
          <p:nvPr userDrawn="1"/>
        </p:nvGrpSpPr>
        <p:grpSpPr>
          <a:xfrm>
            <a:off x="394499" y="4944335"/>
            <a:ext cx="2432304" cy="429626"/>
            <a:chOff x="530352" y="4986925"/>
            <a:chExt cx="2190827" cy="42962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6E463CF-08FA-41C5-8D66-0F0731640EFD}"/>
                </a:ext>
              </a:extLst>
            </p:cNvPr>
            <p:cNvGrpSpPr/>
            <p:nvPr userDrawn="1"/>
          </p:nvGrpSpPr>
          <p:grpSpPr>
            <a:xfrm>
              <a:off x="530352" y="4986925"/>
              <a:ext cx="2180818" cy="429626"/>
              <a:chOff x="581579" y="4852579"/>
              <a:chExt cx="2180818" cy="429626"/>
            </a:xfrm>
          </p:grpSpPr>
          <p:sp>
            <p:nvSpPr>
              <p:cNvPr id="40" name="Rectangle 9">
                <a:extLst>
                  <a:ext uri="{FF2B5EF4-FFF2-40B4-BE49-F238E27FC236}">
                    <a16:creationId xmlns:a16="http://schemas.microsoft.com/office/drawing/2014/main" id="{2C60DD33-A894-4D25-A30D-4070105BA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941" y="4852579"/>
                <a:ext cx="1890456" cy="42962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45720" rIns="45720" anchor="b"/>
              <a:lstStyle/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all" spc="0" normalizeH="0" baseline="0" noProof="0" dirty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Graphik Black" panose="020B0A03030202060203" pitchFamily="34" charset="0"/>
                    <a:ea typeface="+mn-ea"/>
                    <a:cs typeface="Arial" charset="0"/>
                  </a:rPr>
                  <a:t>Industry Experience</a:t>
                </a: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648691D-E13B-4D51-8A5D-9A20003EF8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81579" y="4912465"/>
                <a:ext cx="320040" cy="320040"/>
              </a:xfrm>
              <a:prstGeom prst="rect">
                <a:avLst/>
              </a:prstGeom>
            </p:spPr>
          </p:pic>
        </p:grp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5596C41E-92BA-4B65-B4A1-0370CDC1F10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30352" y="5408505"/>
              <a:ext cx="2190827" cy="0"/>
            </a:xfrm>
            <a:prstGeom prst="line">
              <a:avLst/>
            </a:prstGeom>
            <a:noFill/>
            <a:ln w="28575">
              <a:solidFill>
                <a:srgbClr val="404040"/>
              </a:solidFill>
              <a:round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400" name="Detail:Technical Experience">
            <a:extLst>
              <a:ext uri="{FF2B5EF4-FFF2-40B4-BE49-F238E27FC236}">
                <a16:creationId xmlns:a16="http://schemas.microsoft.com/office/drawing/2014/main" id="{BDD354EF-6FF4-4D24-B51B-D9A72C1C176F}"/>
              </a:ext>
            </a:extLst>
          </p:cNvPr>
          <p:cNvSpPr>
            <a:spLocks noGrp="1"/>
          </p:cNvSpPr>
          <p:nvPr>
            <p:ph type="body" sz="quarter" idx="400" hasCustomPrompt="1"/>
          </p:nvPr>
        </p:nvSpPr>
        <p:spPr>
          <a:xfrm>
            <a:off x="2896998" y="3908278"/>
            <a:ext cx="2432108" cy="1097356"/>
          </a:xfrm>
          <a:prstGeom prst="rect">
            <a:avLst/>
          </a:prstGeom>
        </p:spPr>
        <p:txBody>
          <a:bodyPr>
            <a:normAutofit/>
          </a:bodyPr>
          <a:lstStyle>
            <a:lvl1pPr marL="118872" marR="0" indent="-118872" algn="l" defTabSz="914400" rtl="0" eaLnBrk="1" fontAlgn="base" latinLnBrk="0" hangingPunct="1">
              <a:lnSpc>
                <a:spcPts val="1000"/>
              </a:lnSpc>
              <a:spcBef>
                <a:spcPts val="1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 kumimoji="0" lang="en-US" sz="10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黑体" panose="02010609060101010101" pitchFamily="49" charset="-122"/>
                <a:cs typeface="Arial"/>
              </a:defRPr>
            </a:lvl1pPr>
            <a:lvl2pPr marL="228600">
              <a:spcBef>
                <a:spcPts val="0"/>
              </a:spcBef>
              <a:spcAft>
                <a:spcPts val="300"/>
              </a:spcAft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Area</a:t>
            </a:r>
          </a:p>
          <a:p>
            <a:pPr marL="91440" marR="0" lvl="1" indent="-210312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Skills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grpSp>
        <p:nvGrpSpPr>
          <p:cNvPr id="63" name="Title:Technical Experience">
            <a:extLst>
              <a:ext uri="{FF2B5EF4-FFF2-40B4-BE49-F238E27FC236}">
                <a16:creationId xmlns:a16="http://schemas.microsoft.com/office/drawing/2014/main" id="{55E89C7F-5D31-4762-9BB0-2933C0D5969F}"/>
              </a:ext>
            </a:extLst>
          </p:cNvPr>
          <p:cNvGrpSpPr/>
          <p:nvPr userDrawn="1"/>
        </p:nvGrpSpPr>
        <p:grpSpPr>
          <a:xfrm>
            <a:off x="2901889" y="3431900"/>
            <a:ext cx="2428947" cy="437535"/>
            <a:chOff x="2990088" y="3232037"/>
            <a:chExt cx="2340864" cy="43753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A6B111C-A6C5-49C8-9E47-3254C8654B6E}"/>
                </a:ext>
              </a:extLst>
            </p:cNvPr>
            <p:cNvGrpSpPr/>
            <p:nvPr userDrawn="1"/>
          </p:nvGrpSpPr>
          <p:grpSpPr>
            <a:xfrm>
              <a:off x="2991979" y="3232037"/>
              <a:ext cx="2268835" cy="437535"/>
              <a:chOff x="2991979" y="3097691"/>
              <a:chExt cx="2268835" cy="437535"/>
            </a:xfrm>
          </p:grpSpPr>
          <p:sp>
            <p:nvSpPr>
              <p:cNvPr id="29" name="Rectangle 15">
                <a:extLst>
                  <a:ext uri="{FF2B5EF4-FFF2-40B4-BE49-F238E27FC236}">
                    <a16:creationId xmlns:a16="http://schemas.microsoft.com/office/drawing/2014/main" id="{063BA8EF-490E-4122-A881-E94B7DB70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1540" y="3097691"/>
                <a:ext cx="1939274" cy="43753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45720" rIns="45720" anchor="b"/>
              <a:lstStyle/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all" spc="0" normalizeH="0" baseline="0" noProof="0" dirty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Graphik Black" panose="020B0A03030202060203" pitchFamily="34" charset="0"/>
                    <a:ea typeface="+mn-ea"/>
                    <a:cs typeface="Arial" charset="0"/>
                  </a:rPr>
                  <a:t>Technical skills</a:t>
                </a:r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E5C738F-2DB9-4CE9-9201-1C691E17B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991979" y="3156438"/>
                <a:ext cx="320040" cy="320040"/>
              </a:xfrm>
              <a:prstGeom prst="rect">
                <a:avLst/>
              </a:prstGeom>
            </p:spPr>
          </p:pic>
        </p:grp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B03DE291-B58F-4ECF-B182-83BA652CF6D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990088" y="3650812"/>
              <a:ext cx="2340864" cy="0"/>
            </a:xfrm>
            <a:prstGeom prst="line">
              <a:avLst/>
            </a:prstGeom>
            <a:noFill/>
            <a:ln w="28575">
              <a:solidFill>
                <a:srgbClr val="404040"/>
              </a:solidFill>
              <a:round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marL="0" marR="0" lvl="0" indent="0" algn="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200" name="Detail:Functional Experience">
            <a:extLst>
              <a:ext uri="{FF2B5EF4-FFF2-40B4-BE49-F238E27FC236}">
                <a16:creationId xmlns:a16="http://schemas.microsoft.com/office/drawing/2014/main" id="{625EBE0A-88FF-4E9C-ABD1-6AA91CC79391}"/>
              </a:ext>
            </a:extLst>
          </p:cNvPr>
          <p:cNvSpPr>
            <a:spLocks noGrp="1"/>
          </p:cNvSpPr>
          <p:nvPr>
            <p:ph type="body" sz="quarter" idx="200" hasCustomPrompt="1"/>
          </p:nvPr>
        </p:nvSpPr>
        <p:spPr>
          <a:xfrm>
            <a:off x="377952" y="3908278"/>
            <a:ext cx="2432304" cy="1097356"/>
          </a:xfrm>
          <a:prstGeom prst="rect">
            <a:avLst/>
          </a:prstGeom>
        </p:spPr>
        <p:txBody>
          <a:bodyPr>
            <a:normAutofit/>
          </a:bodyPr>
          <a:lstStyle>
            <a:lvl1pPr marL="118872" indent="-118872">
              <a:spcBef>
                <a:spcPts val="18"/>
              </a:spcBef>
              <a:spcAft>
                <a:spcPts val="150"/>
              </a:spcAft>
              <a:buFont typeface="Wingdings" panose="05000000000000000000" pitchFamily="2" charset="2"/>
              <a:buChar char="§"/>
              <a:defRPr kumimoji="0" lang="en-US" sz="10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黑体" panose="02010609060101010101" pitchFamily="49" charset="-122"/>
                <a:cs typeface="Arial"/>
              </a:defRPr>
            </a:lvl1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grpSp>
        <p:nvGrpSpPr>
          <p:cNvPr id="61" name="Title Functional Experience">
            <a:extLst>
              <a:ext uri="{FF2B5EF4-FFF2-40B4-BE49-F238E27FC236}">
                <a16:creationId xmlns:a16="http://schemas.microsoft.com/office/drawing/2014/main" id="{F7322460-D7F7-4D3D-9453-3EB167D9D84D}"/>
              </a:ext>
            </a:extLst>
          </p:cNvPr>
          <p:cNvGrpSpPr/>
          <p:nvPr userDrawn="1"/>
        </p:nvGrpSpPr>
        <p:grpSpPr>
          <a:xfrm>
            <a:off x="381000" y="3424254"/>
            <a:ext cx="2432304" cy="437535"/>
            <a:chOff x="530352" y="3224391"/>
            <a:chExt cx="2194560" cy="437535"/>
          </a:xfrm>
        </p:grpSpPr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B7B5C71C-E77D-4CE2-B32B-E993D7EEA9A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30352" y="3650812"/>
              <a:ext cx="2194560" cy="0"/>
            </a:xfrm>
            <a:prstGeom prst="line">
              <a:avLst/>
            </a:prstGeom>
            <a:noFill/>
            <a:ln w="28575">
              <a:solidFill>
                <a:srgbClr val="404040"/>
              </a:solidFill>
              <a:round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marL="0" marR="0" lvl="0" indent="0" algn="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A747DFD-525F-4298-ACB1-B0ABB6E24759}"/>
                </a:ext>
              </a:extLst>
            </p:cNvPr>
            <p:cNvGrpSpPr/>
            <p:nvPr userDrawn="1"/>
          </p:nvGrpSpPr>
          <p:grpSpPr>
            <a:xfrm>
              <a:off x="530352" y="3224391"/>
              <a:ext cx="2177708" cy="437535"/>
              <a:chOff x="525463" y="3104660"/>
              <a:chExt cx="2177708" cy="437535"/>
            </a:xfrm>
          </p:grpSpPr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38404EB1-EA26-4B00-9F19-3757676CA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3145" y="3104660"/>
                <a:ext cx="1880026" cy="43753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45720" rIns="45720" anchor="b"/>
              <a:lstStyle/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all" spc="0" normalizeH="0" baseline="0" noProof="0" dirty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Graphik Black" panose="020B0A03030202060203" pitchFamily="34" charset="0"/>
                    <a:ea typeface="+mn-ea"/>
                    <a:cs typeface="Arial" charset="0"/>
                  </a:rPr>
                  <a:t>Functional Experience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69DAA3C8-2DF2-457D-AEF2-C489868489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25463" y="3175992"/>
                <a:ext cx="320040" cy="320040"/>
              </a:xfrm>
              <a:prstGeom prst="rect">
                <a:avLst/>
              </a:prstGeom>
            </p:spPr>
          </p:pic>
        </p:grpSp>
      </p:grpSp>
      <p:sp>
        <p:nvSpPr>
          <p:cNvPr id="100" name="Detail:Background Experience">
            <a:extLst>
              <a:ext uri="{FF2B5EF4-FFF2-40B4-BE49-F238E27FC236}">
                <a16:creationId xmlns:a16="http://schemas.microsoft.com/office/drawing/2014/main" id="{BF4C3BB4-C8E9-461C-BB07-C133A20470B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81000" y="1693622"/>
            <a:ext cx="4877059" cy="1787597"/>
          </a:xfrm>
          <a:prstGeom prst="rect">
            <a:avLst/>
          </a:prstGeom>
        </p:spPr>
        <p:txBody>
          <a:bodyPr>
            <a:normAutofit/>
          </a:bodyPr>
          <a:lstStyle>
            <a:lvl1pPr marL="118872" indent="-118872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kumimoji="0" lang="en-US" sz="10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黑体" panose="02010609060101010101" pitchFamily="49" charset="-122"/>
                <a:cs typeface="Arial"/>
              </a:defRPr>
            </a:lvl1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grpSp>
        <p:nvGrpSpPr>
          <p:cNvPr id="3" name="Title:Professional Background">
            <a:extLst>
              <a:ext uri="{FF2B5EF4-FFF2-40B4-BE49-F238E27FC236}">
                <a16:creationId xmlns:a16="http://schemas.microsoft.com/office/drawing/2014/main" id="{0BCA5FB8-B1A0-41D1-B035-A7D2FF18C863}"/>
              </a:ext>
            </a:extLst>
          </p:cNvPr>
          <p:cNvGrpSpPr/>
          <p:nvPr userDrawn="1"/>
        </p:nvGrpSpPr>
        <p:grpSpPr>
          <a:xfrm>
            <a:off x="369507" y="1345278"/>
            <a:ext cx="4959483" cy="319076"/>
            <a:chOff x="369623" y="1204124"/>
            <a:chExt cx="4959483" cy="319076"/>
          </a:xfrm>
        </p:grpSpPr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56AF543A-D546-491B-BDF3-9DEA98E3EA9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81000" y="1501372"/>
              <a:ext cx="4948106" cy="0"/>
            </a:xfrm>
            <a:prstGeom prst="line">
              <a:avLst/>
            </a:prstGeom>
            <a:noFill/>
            <a:ln w="28575">
              <a:solidFill>
                <a:srgbClr val="404040"/>
              </a:solidFill>
              <a:round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3A43ED0F-47D8-4670-8AAF-E32D9DD53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366" y="1263322"/>
              <a:ext cx="3112922" cy="2571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45720" rIns="45720" anchor="b"/>
            <a:lstStyle/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all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Graphik Black" panose="020B0A03030202060203" pitchFamily="34" charset="0"/>
                  <a:ea typeface="+mn-ea"/>
                  <a:cs typeface="Arial" charset="0"/>
                </a:rPr>
                <a:t>Professional Background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BB11CA3-E352-4BAC-80D8-602414634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9623" y="1204124"/>
              <a:ext cx="333743" cy="319076"/>
            </a:xfrm>
            <a:prstGeom prst="rect">
              <a:avLst/>
            </a:prstGeom>
          </p:spPr>
        </p:pic>
      </p:grpSp>
      <p:sp>
        <p:nvSpPr>
          <p:cNvPr id="50" name="Your Title">
            <a:extLst>
              <a:ext uri="{FF2B5EF4-FFF2-40B4-BE49-F238E27FC236}">
                <a16:creationId xmlns:a16="http://schemas.microsoft.com/office/drawing/2014/main" id="{C1BF45D8-6751-45C3-A64E-AB079812EE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54735" y="544757"/>
            <a:ext cx="6340475" cy="3366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454545"/>
                </a:solidFill>
                <a:latin typeface="Graphik Black" panose="020B0A03030202060203" pitchFamily="34" charset="0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Your Title</a:t>
            </a:r>
          </a:p>
        </p:txBody>
      </p:sp>
      <p:sp>
        <p:nvSpPr>
          <p:cNvPr id="48" name="Your Name">
            <a:extLst>
              <a:ext uri="{FF2B5EF4-FFF2-40B4-BE49-F238E27FC236}">
                <a16:creationId xmlns:a16="http://schemas.microsoft.com/office/drawing/2014/main" id="{DB67F779-2CB6-4D37-A3F4-F571C3D98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30578" y="187745"/>
            <a:ext cx="6340475" cy="3156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accent1"/>
                </a:solidFill>
                <a:latin typeface="Graphik Black" panose="020B0A03030202060203" pitchFamily="34" charset="0"/>
              </a:defRPr>
            </a:lvl1pPr>
          </a:lstStyle>
          <a:p>
            <a:pPr lvl="0"/>
            <a:r>
              <a:rPr lang="en-US" sz="2600" dirty="0"/>
              <a:t>Your Name</a:t>
            </a:r>
            <a:endParaRPr lang="en-US" dirty="0"/>
          </a:p>
        </p:txBody>
      </p:sp>
      <p:sp>
        <p:nvSpPr>
          <p:cNvPr id="7" name="Your Picture">
            <a:extLst>
              <a:ext uri="{FF2B5EF4-FFF2-40B4-BE49-F238E27FC236}">
                <a16:creationId xmlns:a16="http://schemas.microsoft.com/office/drawing/2014/main" id="{E8F66A70-A6C5-4AA7-A04A-B6D09E41E4D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12435" y="149312"/>
            <a:ext cx="1588656" cy="1115178"/>
          </a:xfrm>
          <a:prstGeom prst="rect">
            <a:avLst/>
          </a:prstGeom>
          <a:effectLst/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Your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124C12-C2D5-F283-B5AC-2DB7A35474F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999133" y="291995"/>
            <a:ext cx="1580336" cy="42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71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2022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748" r:id="rId3"/>
    <p:sldLayoutId id="2147483762" r:id="rId4"/>
    <p:sldLayoutId id="2147483742" r:id="rId5"/>
    <p:sldLayoutId id="2147483724" r:id="rId6"/>
    <p:sldLayoutId id="2147483723" r:id="rId7"/>
    <p:sldLayoutId id="2147483726" r:id="rId8"/>
    <p:sldLayoutId id="2147483688" r:id="rId9"/>
    <p:sldLayoutId id="2147483655" r:id="rId10"/>
    <p:sldLayoutId id="2147483745" r:id="rId11"/>
    <p:sldLayoutId id="2147483741" r:id="rId12"/>
    <p:sldLayoutId id="2147483763" r:id="rId13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hyperlink" Target="mailto:lin.c.zhu@accenture.com" TargetMode="External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DE6B0-1405-4228-8E12-1BFE194BED9D}"/>
              </a:ext>
            </a:extLst>
          </p:cNvPr>
          <p:cNvSpPr>
            <a:spLocks noGrp="1"/>
          </p:cNvSpPr>
          <p:nvPr>
            <p:ph type="body" sz="quarter" idx="300"/>
          </p:nvPr>
        </p:nvSpPr>
        <p:spPr>
          <a:xfrm>
            <a:off x="5447391" y="1706322"/>
            <a:ext cx="6752009" cy="5159303"/>
          </a:xfrm>
        </p:spPr>
        <p:txBody>
          <a:bodyPr>
            <a:normAutofit fontScale="77500" lnSpcReduction="20000"/>
          </a:bodyPr>
          <a:lstStyle/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ea typeface="ＭＳ Ｐゴシック" panose="020B0600070205080204" pitchFamily="34" charset="-128"/>
              </a:rPr>
              <a:t>Global Asset Management Firm -  AWS Cloud Architect and DevOps lead for Agentic AI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Architect and implement the infrastructure supports Gen AI in AWS and setup the CI/CD pipeline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Solution including 7 marketing agents with </a:t>
            </a:r>
            <a:r>
              <a:rPr lang="en-US" sz="900" b="0" dirty="0" err="1">
                <a:latin typeface="Arial" panose="020B0604020202020204" pitchFamily="34" charset="0"/>
              </a:rPr>
              <a:t>LangChain</a:t>
            </a:r>
            <a:r>
              <a:rPr lang="en-US" sz="900" b="0" dirty="0">
                <a:latin typeface="Arial" panose="020B0604020202020204" pitchFamily="34" charset="0"/>
              </a:rPr>
              <a:t>/</a:t>
            </a:r>
            <a:r>
              <a:rPr lang="en-US" sz="900" b="0" dirty="0" err="1">
                <a:latin typeface="Arial" panose="020B0604020202020204" pitchFamily="34" charset="0"/>
              </a:rPr>
              <a:t>LangGraph</a:t>
            </a:r>
            <a:r>
              <a:rPr lang="en-US" sz="900" b="0" dirty="0">
                <a:latin typeface="Arial" panose="020B0604020202020204" pitchFamily="34" charset="0"/>
              </a:rPr>
              <a:t> architecture deployed to EKS, RDS/Aurora, KMS, IAM, Kong and Apache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ea typeface="ＭＳ Ｐゴシック" panose="020B0600070205080204" pitchFamily="34" charset="-128"/>
              </a:rPr>
              <a:t>Global Food Distributor -  GCP Cloud Architect, Data Engineering lead for Data Warehouse/Lake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Architect and implement the infrastructure supports Data ingestion from various data source including SFDC, SAP, AS/400 etc.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Manage onshore/offshore team for multiple workstreams</a:t>
            </a:r>
            <a:endParaRPr lang="en-US" sz="900" dirty="0">
              <a:latin typeface="+mj-lt"/>
              <a:ea typeface="ＭＳ Ｐゴシック" panose="020B0600070205080204" pitchFamily="34" charset="-128"/>
              <a:cs typeface="+mn-cs"/>
            </a:endParaRP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National Healthcare provider  -  GCP Cloud Architect, Cloud Native Application migration lead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Architect and lead the application migration from Tanzu Application Services to GCP Cloud Native services e.g. GKE and Cloud Run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National Telco  -  GCP Cloud Architect for Gen AI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Architect and implement the infrastructure supports Gen AI in GCP Vertex AI and setup the CI/CD pipeline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Solution include enabling IAP on Cloud Run services running on docker images with Python code to provide Gen AI agent function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Design Gen AI solution for scalability</a:t>
            </a:r>
            <a:endParaRPr lang="en-US" sz="900" dirty="0">
              <a:latin typeface="+mj-lt"/>
              <a:ea typeface="ＭＳ Ｐゴシック" panose="020B0600070205080204" pitchFamily="34" charset="-128"/>
              <a:cs typeface="+mn-cs"/>
            </a:endParaRP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Global Entertainment and Media corporation -  GCP Cloud Architect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Architect and implement the foundation / landing zone / IAM / security for GCP to enable app migration to follow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Design multi cloud networking and workload distributing among GCP, AWS and Azure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National insurance company -  GCP Gen AI consultant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Advice the AIML / Gen AI adoption team of engineers on Prompt Engineering, RAG, Model tuning strategy and techniques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Global Banking – Cloud Landing Zone, </a:t>
            </a:r>
            <a:r>
              <a:rPr lang="en-US" sz="900" dirty="0" err="1">
                <a:latin typeface="+mj-lt"/>
                <a:ea typeface="ＭＳ Ｐゴシック" panose="020B0600070205080204" pitchFamily="34" charset="-128"/>
                <a:cs typeface="+mn-cs"/>
              </a:rPr>
              <a:t>BigData</a:t>
            </a: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 foundation, Terraform automation, App migration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Built general landing zone as well as the foundation for </a:t>
            </a:r>
            <a:r>
              <a:rPr lang="en-US" sz="900" b="0" dirty="0" err="1">
                <a:latin typeface="Arial" panose="020B0604020202020204" pitchFamily="34" charset="0"/>
              </a:rPr>
              <a:t>BigData</a:t>
            </a:r>
            <a:r>
              <a:rPr lang="en-US" sz="900" b="0" dirty="0">
                <a:latin typeface="Arial" panose="020B0604020202020204" pitchFamily="34" charset="0"/>
              </a:rPr>
              <a:t> solutions in cloud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Multi continent regions landing zone with data sovereignty requirements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Advanced, robust </a:t>
            </a:r>
            <a:r>
              <a:rPr lang="en-US" sz="900" b="0" dirty="0" err="1">
                <a:latin typeface="Arial" panose="020B0604020202020204" pitchFamily="34" charset="0"/>
              </a:rPr>
              <a:t>IaC</a:t>
            </a:r>
            <a:r>
              <a:rPr lang="en-US" sz="900" b="0" dirty="0">
                <a:latin typeface="Arial" panose="020B0604020202020204" pitchFamily="34" charset="0"/>
              </a:rPr>
              <a:t> (Terraform) cloud automation with Chef, Ansible, Packer automation, coaching on teams’ performance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Global Telco and CSP – Cloud Ops Model, DevOps Pipeline on Test Automation and </a:t>
            </a:r>
            <a:r>
              <a:rPr lang="en-US" sz="900" dirty="0" err="1">
                <a:latin typeface="+mj-lt"/>
                <a:ea typeface="ＭＳ Ｐゴシック" panose="020B0600070205080204" pitchFamily="34" charset="-128"/>
                <a:cs typeface="+mn-cs"/>
              </a:rPr>
              <a:t>MLOps</a:t>
            </a:r>
            <a:endParaRPr lang="en-US" sz="900" dirty="0">
              <a:latin typeface="+mj-lt"/>
              <a:ea typeface="ＭＳ Ｐゴシック" panose="020B0600070205080204" pitchFamily="34" charset="-128"/>
              <a:cs typeface="+mn-cs"/>
            </a:endParaRP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Ensured efficient and toil-free Cloud Operation following Cloud Migration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Architected end-to-end Performance, Security, Chaos Engineering CI/CD and </a:t>
            </a:r>
            <a:r>
              <a:rPr lang="en-US" sz="900" b="0" dirty="0" err="1">
                <a:latin typeface="Arial" panose="020B0604020202020204" pitchFamily="34" charset="0"/>
              </a:rPr>
              <a:t>MLOps</a:t>
            </a:r>
            <a:r>
              <a:rPr lang="en-US" sz="900" b="0" dirty="0">
                <a:latin typeface="Arial" panose="020B0604020202020204" pitchFamily="34" charset="0"/>
              </a:rPr>
              <a:t> pipeline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Provincial Government Agency - Cloud Architect and Cloud Native Application Enablement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Advised Dev + Ops team on best practices for deploying web-based applications onto a highly secured, zero-trust networking cloud landing zone leveraging Cloud Native technologies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Define standards and processes for leveraging cloud-native technologies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Fed Government Agencies -  Cloud Architect, Migration Project Manager and Microservices Ops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Advised hybrid multi cloud architecture strategy and workload disposition decision making process as well as migration methodology for mission critical applications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Discovered sophisticated applications dependency mapping to enable migration wave planning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Led cloud migration waves with well managed stakeholder communication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Production readiness for critical Cloud Native event driven microservices application rollout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Transformed the backup solution into hybrid cloud model with substantially lower cost</a:t>
            </a:r>
          </a:p>
          <a:p>
            <a:pPr marL="0" lv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Global manufacturer -  Disaster Recovery Team Lead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Led Disaster Recovery Enablement and Implementation project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Design Disaster Recovery approaches involving multiple database technologies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Led the offshore resource team to implement Disaster Recovery and develop DR drill plan / SOP</a:t>
            </a:r>
          </a:p>
          <a:p>
            <a:pPr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Ran client onsite workshop on Disaster Recovery operations </a:t>
            </a:r>
          </a:p>
          <a:p>
            <a:pPr marL="0" indent="0" defTabSz="917575"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buNone/>
              <a:tabLst>
                <a:tab pos="4568825" algn="l"/>
                <a:tab pos="6958013" algn="l"/>
              </a:tabLst>
              <a:defRPr/>
            </a:pPr>
            <a:r>
              <a:rPr lang="en-US" sz="900" dirty="0">
                <a:latin typeface="+mj-lt"/>
                <a:ea typeface="ＭＳ Ｐゴシック" panose="020B0600070205080204" pitchFamily="34" charset="-128"/>
                <a:cs typeface="+mn-cs"/>
              </a:rPr>
              <a:t>National Retail Chain – Infrastructure Architect</a:t>
            </a:r>
          </a:p>
          <a:p>
            <a:pPr defTabSz="917575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Designed private cloud solution on contact center and VoIP application based on Cisco UCS, Nexus, EMC, NetApp &amp; VMware</a:t>
            </a:r>
          </a:p>
          <a:p>
            <a:pPr defTabSz="917575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A5C249">
                  <a:lumMod val="50000"/>
                </a:srgbClr>
              </a:buClr>
              <a:buSzPct val="100000"/>
              <a:tabLst>
                <a:tab pos="4568825" algn="l"/>
                <a:tab pos="6958013" algn="l"/>
              </a:tabLst>
              <a:defRPr/>
            </a:pPr>
            <a:r>
              <a:rPr lang="en-US" sz="900" b="0" dirty="0">
                <a:latin typeface="Arial" panose="020B0604020202020204" pitchFamily="34" charset="0"/>
              </a:rPr>
              <a:t>Designed shared network infrastructure among multiple workloads silos to reduce cost</a:t>
            </a:r>
          </a:p>
        </p:txBody>
      </p:sp>
      <p:sp>
        <p:nvSpPr>
          <p:cNvPr id="127" name="Text Placeholder 126">
            <a:extLst>
              <a:ext uri="{FF2B5EF4-FFF2-40B4-BE49-F238E27FC236}">
                <a16:creationId xmlns:a16="http://schemas.microsoft.com/office/drawing/2014/main" id="{7C1D9226-740C-46F4-BEF2-F1A7F248FED1}"/>
              </a:ext>
            </a:extLst>
          </p:cNvPr>
          <p:cNvSpPr>
            <a:spLocks noGrp="1"/>
          </p:cNvSpPr>
          <p:nvPr>
            <p:ph type="body" sz="quarter" idx="600"/>
          </p:nvPr>
        </p:nvSpPr>
        <p:spPr>
          <a:xfrm>
            <a:off x="2910497" y="5381756"/>
            <a:ext cx="2529494" cy="1293849"/>
          </a:xfrm>
        </p:spPr>
        <p:txBody>
          <a:bodyPr>
            <a:noAutofit/>
          </a:bodyPr>
          <a:lstStyle/>
          <a:p>
            <a:pPr>
              <a:spcAft>
                <a:spcPts val="100"/>
              </a:spcAft>
            </a:pPr>
            <a:r>
              <a:rPr lang="en-US" sz="900" b="1" dirty="0">
                <a:sym typeface="Wingdings" pitchFamily="2" charset="2"/>
              </a:rPr>
              <a:t>GCP</a:t>
            </a:r>
            <a:r>
              <a:rPr lang="en-US" sz="900" dirty="0">
                <a:sym typeface="Wingdings" pitchFamily="2" charset="2"/>
              </a:rPr>
              <a:t> Certified Architect, Cloud, Network, Security, Data, GenAI/</a:t>
            </a:r>
            <a:r>
              <a:rPr lang="en-US" altLang="zh-CN" sz="900" dirty="0">
                <a:sym typeface="Wingdings" pitchFamily="2" charset="2"/>
              </a:rPr>
              <a:t>ML</a:t>
            </a:r>
            <a:r>
              <a:rPr lang="en-US" sz="900" dirty="0">
                <a:sym typeface="Wingdings" pitchFamily="2" charset="2"/>
              </a:rPr>
              <a:t>, DB, DevOps, SecOps, SRE, Workspace Eng, Developer</a:t>
            </a:r>
          </a:p>
          <a:p>
            <a:pPr>
              <a:spcAft>
                <a:spcPts val="100"/>
              </a:spcAft>
            </a:pPr>
            <a:r>
              <a:rPr lang="en-US" sz="900" b="1" dirty="0">
                <a:sym typeface="Wingdings" pitchFamily="2" charset="2"/>
              </a:rPr>
              <a:t>Azure</a:t>
            </a:r>
            <a:r>
              <a:rPr lang="en-US" sz="900" dirty="0">
                <a:sym typeface="Wingdings" pitchFamily="2" charset="2"/>
              </a:rPr>
              <a:t> Certified Solution Architect / Admin</a:t>
            </a:r>
          </a:p>
          <a:p>
            <a:pPr>
              <a:spcAft>
                <a:spcPts val="100"/>
              </a:spcAft>
            </a:pPr>
            <a:r>
              <a:rPr lang="en-US" sz="900" b="1" dirty="0">
                <a:sym typeface="Wingdings" pitchFamily="2" charset="2"/>
              </a:rPr>
              <a:t>AWS</a:t>
            </a:r>
            <a:r>
              <a:rPr lang="en-US" sz="900" dirty="0">
                <a:sym typeface="Wingdings" pitchFamily="2" charset="2"/>
              </a:rPr>
              <a:t> Certified Cloud Practitioner</a:t>
            </a:r>
          </a:p>
          <a:p>
            <a:pPr>
              <a:spcAft>
                <a:spcPts val="100"/>
              </a:spcAft>
            </a:pPr>
            <a:r>
              <a:rPr lang="en-US" sz="900" b="1" dirty="0">
                <a:sym typeface="Wingdings" pitchFamily="2" charset="2"/>
              </a:rPr>
              <a:t>Terraform, </a:t>
            </a:r>
            <a:r>
              <a:rPr lang="en-US" sz="900" b="1" dirty="0" err="1">
                <a:sym typeface="Wingdings" pitchFamily="2" charset="2"/>
              </a:rPr>
              <a:t>CloudScape</a:t>
            </a:r>
            <a:r>
              <a:rPr lang="en-US" sz="900" b="1" dirty="0">
                <a:sym typeface="Wingdings" pitchFamily="2" charset="2"/>
              </a:rPr>
              <a:t> </a:t>
            </a:r>
            <a:r>
              <a:rPr lang="en-US" sz="900" dirty="0">
                <a:sym typeface="Wingdings" pitchFamily="2" charset="2"/>
              </a:rPr>
              <a:t>Certified</a:t>
            </a:r>
          </a:p>
          <a:p>
            <a:pPr>
              <a:spcAft>
                <a:spcPts val="100"/>
              </a:spcAft>
            </a:pPr>
            <a:r>
              <a:rPr lang="en-US" sz="900" b="1" dirty="0">
                <a:sym typeface="Wingdings" pitchFamily="2" charset="2"/>
              </a:rPr>
              <a:t>ServiceNow</a:t>
            </a:r>
            <a:r>
              <a:rPr lang="en-US" sz="900" dirty="0">
                <a:sym typeface="Wingdings" pitchFamily="2" charset="2"/>
              </a:rPr>
              <a:t> Sys Admin and ITSM </a:t>
            </a:r>
            <a:r>
              <a:rPr lang="en-US" sz="900" dirty="0" err="1">
                <a:sym typeface="Wingdings" pitchFamily="2" charset="2"/>
              </a:rPr>
              <a:t>impl</a:t>
            </a:r>
            <a:r>
              <a:rPr lang="en-US" sz="900" dirty="0">
                <a:sym typeface="Wingdings" pitchFamily="2" charset="2"/>
              </a:rPr>
              <a:t>.</a:t>
            </a:r>
          </a:p>
          <a:p>
            <a:pPr>
              <a:spcAft>
                <a:spcPts val="100"/>
              </a:spcAft>
            </a:pPr>
            <a:r>
              <a:rPr lang="en-US" sz="900" b="1" dirty="0">
                <a:sym typeface="Wingdings" pitchFamily="2" charset="2"/>
              </a:rPr>
              <a:t>FinOps, PMP, ITIL </a:t>
            </a:r>
            <a:r>
              <a:rPr lang="en-US" sz="900" dirty="0">
                <a:sym typeface="Wingdings" pitchFamily="2" charset="2"/>
              </a:rPr>
              <a:t>v3 Foundation certified </a:t>
            </a:r>
          </a:p>
          <a:p>
            <a:pPr>
              <a:spcAft>
                <a:spcPts val="100"/>
              </a:spcAft>
            </a:pPr>
            <a:r>
              <a:rPr lang="en-US" sz="900" b="1" dirty="0">
                <a:sym typeface="Wingdings" pitchFamily="2" charset="2"/>
              </a:rPr>
              <a:t>B.S.</a:t>
            </a:r>
            <a:r>
              <a:rPr lang="en-US" sz="900" dirty="0">
                <a:sym typeface="Wingdings" pitchFamily="2" charset="2"/>
              </a:rPr>
              <a:t> </a:t>
            </a:r>
            <a:r>
              <a:rPr lang="en-US" sz="900" b="1" dirty="0">
                <a:sym typeface="Wingdings" pitchFamily="2" charset="2"/>
              </a:rPr>
              <a:t>degree </a:t>
            </a:r>
            <a:r>
              <a:rPr lang="en-US" sz="900" dirty="0">
                <a:sym typeface="Wingdings" pitchFamily="2" charset="2"/>
              </a:rPr>
              <a:t>in</a:t>
            </a:r>
            <a:r>
              <a:rPr lang="en-US" sz="900" b="1" dirty="0">
                <a:sym typeface="Wingdings" pitchFamily="2" charset="2"/>
              </a:rPr>
              <a:t> ECE </a:t>
            </a:r>
            <a:r>
              <a:rPr lang="en-US" sz="900" dirty="0">
                <a:sym typeface="Wingdings" pitchFamily="2" charset="2"/>
              </a:rPr>
              <a:t>from HUST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F701B-F095-47B8-92D9-3E2A6156F9E6}"/>
              </a:ext>
            </a:extLst>
          </p:cNvPr>
          <p:cNvSpPr>
            <a:spLocks noGrp="1"/>
          </p:cNvSpPr>
          <p:nvPr>
            <p:ph type="body" sz="quarter" idx="500"/>
          </p:nvPr>
        </p:nvSpPr>
        <p:spPr>
          <a:xfrm>
            <a:off x="394500" y="5374669"/>
            <a:ext cx="2418274" cy="1293849"/>
          </a:xfrm>
        </p:spPr>
        <p:txBody>
          <a:bodyPr>
            <a:normAutofit/>
          </a:bodyPr>
          <a:lstStyle/>
          <a:p>
            <a:pPr lvl="0"/>
            <a:r>
              <a:rPr lang="en-US" sz="900" dirty="0"/>
              <a:t>Communications, Media &amp; Technology</a:t>
            </a:r>
          </a:p>
          <a:p>
            <a:pPr lvl="0"/>
            <a:r>
              <a:rPr lang="en-US" sz="900" dirty="0"/>
              <a:t>Banking, Financial, Securities, Insurance</a:t>
            </a:r>
          </a:p>
          <a:p>
            <a:pPr lvl="0"/>
            <a:r>
              <a:rPr lang="en-US" sz="900" dirty="0"/>
              <a:t>Public Services – Fed &amp; Local government</a:t>
            </a:r>
          </a:p>
          <a:p>
            <a:r>
              <a:rPr lang="en-US" sz="900" dirty="0"/>
              <a:t>Consumer Goods &amp; Services</a:t>
            </a:r>
          </a:p>
          <a:p>
            <a:r>
              <a:rPr lang="en-US" sz="900" dirty="0"/>
              <a:t>Travel and Hospitality</a:t>
            </a:r>
          </a:p>
          <a:p>
            <a:pPr lvl="0"/>
            <a:r>
              <a:rPr lang="en-US" sz="900" dirty="0"/>
              <a:t>Retail and Wholesale</a:t>
            </a:r>
          </a:p>
          <a:p>
            <a:pPr lvl="0"/>
            <a:r>
              <a:rPr lang="en-US" sz="900" dirty="0"/>
              <a:t>K12 and Higher Education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F38047-C58F-4EED-8F8B-F557CF0D15DC}"/>
              </a:ext>
            </a:extLst>
          </p:cNvPr>
          <p:cNvSpPr>
            <a:spLocks noGrp="1"/>
          </p:cNvSpPr>
          <p:nvPr>
            <p:ph type="body" sz="quarter" idx="200"/>
          </p:nvPr>
        </p:nvSpPr>
        <p:spPr>
          <a:xfrm>
            <a:off x="377952" y="3882911"/>
            <a:ext cx="2519046" cy="1127215"/>
          </a:xfrm>
        </p:spPr>
        <p:txBody>
          <a:bodyPr>
            <a:normAutofit lnSpcReduction="10000"/>
          </a:bodyPr>
          <a:lstStyle/>
          <a:p>
            <a:r>
              <a:rPr lang="en-US" altLang="zh-CN" sz="900" dirty="0">
                <a:solidFill>
                  <a:schemeClr val="tx1"/>
                </a:solidFill>
              </a:rPr>
              <a:t>Cloud Infra onboarding / Operation</a:t>
            </a:r>
          </a:p>
          <a:p>
            <a:r>
              <a:rPr lang="en-US" altLang="zh-CN" sz="900" dirty="0">
                <a:solidFill>
                  <a:schemeClr val="tx1"/>
                </a:solidFill>
              </a:rPr>
              <a:t>Cloud Native App onboarding / Migration</a:t>
            </a:r>
          </a:p>
          <a:p>
            <a:pPr lvl="0"/>
            <a:r>
              <a:rPr lang="en-US" altLang="zh-CN" sz="900" dirty="0">
                <a:solidFill>
                  <a:schemeClr val="tx1"/>
                </a:solidFill>
              </a:rPr>
              <a:t>Project Management: Project Planning, Scope, Schedule, Execution, Closing, People/Resource, Risk Management</a:t>
            </a:r>
          </a:p>
          <a:p>
            <a:pPr lvl="0"/>
            <a:r>
              <a:rPr lang="en-US" altLang="zh-CN" sz="900" dirty="0">
                <a:solidFill>
                  <a:schemeClr val="tx1"/>
                </a:solidFill>
              </a:rPr>
              <a:t>Client Relationship Management, Vendor, Stakeholder Management</a:t>
            </a:r>
          </a:p>
          <a:p>
            <a:pPr lvl="0"/>
            <a:r>
              <a:rPr lang="en-US" altLang="zh-CN" sz="900" dirty="0">
                <a:solidFill>
                  <a:schemeClr val="tx1"/>
                </a:solidFill>
              </a:rPr>
              <a:t>Sales, Technical Sales</a:t>
            </a:r>
          </a:p>
          <a:p>
            <a:pPr lvl="0"/>
            <a:endParaRPr lang="en-US" altLang="zh-CN" sz="900" dirty="0">
              <a:solidFill>
                <a:schemeClr val="tx1"/>
              </a:solidFill>
            </a:endParaRPr>
          </a:p>
          <a:p>
            <a:pPr lvl="0"/>
            <a:endParaRPr lang="en-US" altLang="zh-CN" sz="900" dirty="0">
              <a:solidFill>
                <a:schemeClr val="tx1"/>
              </a:solidFill>
            </a:endParaRPr>
          </a:p>
          <a:p>
            <a:pPr lvl="0"/>
            <a:endParaRPr lang="en-US" altLang="zh-CN" sz="900" dirty="0">
              <a:solidFill>
                <a:schemeClr val="tx1"/>
              </a:solidFill>
            </a:endParaRPr>
          </a:p>
          <a:p>
            <a:pPr lvl="0"/>
            <a:endParaRPr lang="en-US" altLang="zh-CN" sz="900" dirty="0">
              <a:solidFill>
                <a:schemeClr val="tx1"/>
              </a:solidFill>
            </a:endParaRPr>
          </a:p>
          <a:p>
            <a:pPr lvl="0"/>
            <a:endParaRPr lang="en-US" altLang="zh-CN" sz="950" dirty="0">
              <a:solidFill>
                <a:schemeClr val="tx1"/>
              </a:solidFill>
            </a:endParaRPr>
          </a:p>
          <a:p>
            <a:pPr lvl="0"/>
            <a:endParaRPr lang="en-US" altLang="zh-CN" sz="950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9A3020-D4A6-4844-9951-9544434E1898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381000" y="1706322"/>
            <a:ext cx="4961604" cy="1812045"/>
          </a:xfrm>
        </p:spPr>
        <p:txBody>
          <a:bodyPr>
            <a:noAutofit/>
          </a:bodyPr>
          <a:lstStyle/>
          <a:p>
            <a:pPr fontAlgn="base">
              <a:spcBef>
                <a:spcPts val="18"/>
              </a:spcBef>
              <a:spcAft>
                <a:spcPts val="150"/>
              </a:spcAft>
            </a:pPr>
            <a:r>
              <a:rPr lang="en-US" dirty="0"/>
              <a:t>Lin is a veteran hands-on Cloud Architect Lead focusing on hybrid multi cloud such as GCP, AWS, Azure and on-prem DC, with deep technology stack skills encompassing all areas of datacenter and cloud technologies including server, storage, network, security, virtualization, backup/DR and </a:t>
            </a:r>
            <a:r>
              <a:rPr lang="en-US" dirty="0" err="1"/>
              <a:t>IaC</a:t>
            </a:r>
            <a:r>
              <a:rPr lang="en-US" dirty="0"/>
              <a:t>/Terraform/Ansible cloud automation.</a:t>
            </a:r>
          </a:p>
          <a:p>
            <a:pPr fontAlgn="base">
              <a:spcBef>
                <a:spcPts val="18"/>
              </a:spcBef>
              <a:spcAft>
                <a:spcPts val="150"/>
              </a:spcAft>
            </a:pPr>
            <a:r>
              <a:rPr lang="en-US" dirty="0"/>
              <a:t>For the past 30+ years, Lin has taken roles such as cloud solution architect, engineer, project manager and delivery lead on Data Management, Application/Workload/Data Cloud Migration, </a:t>
            </a:r>
            <a:r>
              <a:rPr lang="en-US" dirty="0" err="1"/>
              <a:t>MLOps</a:t>
            </a:r>
            <a:r>
              <a:rPr lang="en-US" dirty="0"/>
              <a:t>, GenAI, Infrastructure Build-out projects, in vendors, telecom service providers and consulting firms.</a:t>
            </a:r>
          </a:p>
          <a:p>
            <a:pPr fontAlgn="base">
              <a:spcBef>
                <a:spcPts val="18"/>
              </a:spcBef>
              <a:spcAft>
                <a:spcPts val="150"/>
              </a:spcAft>
            </a:pPr>
            <a:r>
              <a:rPr lang="en-US" dirty="0">
                <a:solidFill>
                  <a:schemeClr val="tx1"/>
                </a:solidFill>
              </a:rPr>
              <a:t>Lin is a certified PMP and ITIL foundation v3 since 2009 along with many industry certificates earned from multiple leading vendors. </a:t>
            </a:r>
          </a:p>
          <a:p>
            <a:pPr fontAlgn="base">
              <a:spcBef>
                <a:spcPts val="18"/>
              </a:spcBef>
              <a:spcAft>
                <a:spcPts val="150"/>
              </a:spcAft>
            </a:pPr>
            <a:endParaRPr lang="en-US" dirty="0">
              <a:solidFill>
                <a:schemeClr val="tx1"/>
              </a:solidFill>
            </a:endParaRPr>
          </a:p>
          <a:p>
            <a:pPr algn="just" fontAlgn="base"/>
            <a:endParaRPr lang="en-US" altLang="ja-JP" sz="9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  <a:p>
            <a:pPr fontAlgn="base"/>
            <a:endParaRPr lang="en-US" altLang="zh-MO" dirty="0">
              <a:latin typeface="+mj-lt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12F6C-CE8A-49EB-92E1-B23D436651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79537" y="149526"/>
            <a:ext cx="6340475" cy="315666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r>
              <a:rPr lang="en-US" dirty="0">
                <a:latin typeface="Graphik Black"/>
              </a:rPr>
              <a:t>Lin Zhu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9F987-5547-4218-A6EF-B29BC19A1D11}"/>
              </a:ext>
            </a:extLst>
          </p:cNvPr>
          <p:cNvSpPr txBox="1"/>
          <p:nvPr/>
        </p:nvSpPr>
        <p:spPr>
          <a:xfrm>
            <a:off x="1511616" y="883237"/>
            <a:ext cx="4137005" cy="41549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r>
              <a:rPr lang="en-US" sz="1200" dirty="0"/>
              <a:t>Email: </a:t>
            </a:r>
            <a:r>
              <a:rPr lang="en-US" sz="1200" u="sng" dirty="0">
                <a:hlinkClick r:id="rId3"/>
              </a:rPr>
              <a:t>lin.c.zhu@accenture.com</a:t>
            </a:r>
            <a:endParaRPr lang="en-US" sz="1200" u="sng" dirty="0"/>
          </a:p>
          <a:p>
            <a:r>
              <a:rPr lang="en-US" sz="1200" dirty="0"/>
              <a:t>Denver, CO, United States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B0C6FDF6-1B19-194E-6689-2727811AD9CB}"/>
              </a:ext>
            </a:extLst>
          </p:cNvPr>
          <p:cNvSpPr>
            <a:spLocks noGrp="1"/>
          </p:cNvSpPr>
          <p:nvPr>
            <p:ph type="body" sz="quarter" idx="400"/>
          </p:nvPr>
        </p:nvSpPr>
        <p:spPr>
          <a:xfrm>
            <a:off x="2896998" y="3871207"/>
            <a:ext cx="2432108" cy="1097356"/>
          </a:xfrm>
        </p:spPr>
        <p:txBody>
          <a:bodyPr>
            <a:normAutofit fontScale="25000" lnSpcReduction="20000"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en-US" sz="3600" b="0" dirty="0"/>
              <a:t>GCP, Azure, AWS, Ali Cloud</a:t>
            </a:r>
          </a:p>
          <a:p>
            <a:pPr marL="171450" indent="-171450" eaLnBrk="0" fontAlgn="base" hangingPunct="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0" dirty="0"/>
              <a:t>Kubernetes, Kubernetes Enterprise, Edge</a:t>
            </a:r>
          </a:p>
          <a:p>
            <a:pPr marL="171450" indent="-171450" eaLnBrk="0" fontAlgn="base" hangingPunct="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0" dirty="0"/>
              <a:t>Terraform, Vault, Sentinel, </a:t>
            </a:r>
            <a:r>
              <a:rPr lang="en-US" altLang="zh-CN" sz="3600" b="0" dirty="0"/>
              <a:t>Packer, </a:t>
            </a:r>
            <a:r>
              <a:rPr lang="en-US" sz="3600" b="0" dirty="0"/>
              <a:t>Ansible, Chef, Jinja2</a:t>
            </a:r>
          </a:p>
          <a:p>
            <a:pPr marL="171450" indent="-171450" eaLnBrk="0" fontAlgn="base" hangingPunct="0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0" dirty="0"/>
              <a:t>DevOps, SRE, Jenkins, GitLab, GitHub</a:t>
            </a:r>
            <a:endParaRPr lang="en-US" sz="3600" b="0" dirty="0">
              <a:cs typeface="Calibri"/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en-US" sz="3600" b="0" dirty="0"/>
              <a:t>DC, Server, Storage, NW/</a:t>
            </a:r>
            <a:r>
              <a:rPr lang="en-US" sz="3600" b="0" dirty="0" err="1"/>
              <a:t>WiFi</a:t>
            </a:r>
            <a:r>
              <a:rPr lang="en-US" sz="3600" b="0" dirty="0"/>
              <a:t>, </a:t>
            </a:r>
            <a:r>
              <a:rPr lang="en-US" sz="3600" b="0" dirty="0" err="1"/>
              <a:t>Bkup</a:t>
            </a:r>
            <a:r>
              <a:rPr lang="en-US" sz="3600" b="0" dirty="0"/>
              <a:t> &amp; DR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en-US" sz="3600" b="0" dirty="0"/>
              <a:t>Gen AI / OpenAI / Claude Code / Gemini Ent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en-US" sz="3600" b="0" dirty="0"/>
              <a:t>Golang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en-US" sz="3200" b="0" dirty="0"/>
          </a:p>
          <a:p>
            <a:pPr marL="0" indent="0" defTabSz="914377">
              <a:lnSpc>
                <a:spcPct val="85000"/>
              </a:lnSpc>
              <a:spcBef>
                <a:spcPts val="18"/>
              </a:spcBef>
              <a:spcAft>
                <a:spcPts val="150"/>
              </a:spcAft>
              <a:buNone/>
            </a:pPr>
            <a:endParaRPr lang="en-CA" sz="900" b="0" dirty="0"/>
          </a:p>
          <a:p>
            <a:pPr marL="0" indent="0" defTabSz="914377">
              <a:lnSpc>
                <a:spcPct val="85000"/>
              </a:lnSpc>
              <a:spcBef>
                <a:spcPts val="18"/>
              </a:spcBef>
              <a:spcAft>
                <a:spcPts val="150"/>
              </a:spcAft>
              <a:buNone/>
            </a:pPr>
            <a:endParaRPr lang="en-CA" sz="900" b="0" dirty="0"/>
          </a:p>
        </p:txBody>
      </p:sp>
      <p:pic>
        <p:nvPicPr>
          <p:cNvPr id="9" name="Picture 8" descr="A picture containing person, wall, necktie, indoor&#10;&#10;Description automatically generated">
            <a:extLst>
              <a:ext uri="{FF2B5EF4-FFF2-40B4-BE49-F238E27FC236}">
                <a16:creationId xmlns:a16="http://schemas.microsoft.com/office/drawing/2014/main" id="{78803532-C8B8-737E-471C-E253EAB3A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80" y="149526"/>
            <a:ext cx="1104376" cy="11249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66C4B4-83BF-2020-2A70-13CA976581AD}"/>
              </a:ext>
            </a:extLst>
          </p:cNvPr>
          <p:cNvSpPr txBox="1"/>
          <p:nvPr/>
        </p:nvSpPr>
        <p:spPr>
          <a:xfrm>
            <a:off x="1330036" y="37199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pic>
        <p:nvPicPr>
          <p:cNvPr id="1045" name="Picture 21">
            <a:extLst>
              <a:ext uri="{FF2B5EF4-FFF2-40B4-BE49-F238E27FC236}">
                <a16:creationId xmlns:a16="http://schemas.microsoft.com/office/drawing/2014/main" id="{52125324-860B-014A-CA38-7CB576E92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129" y="394560"/>
            <a:ext cx="471261" cy="47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96B87DEC-4236-6442-B8A0-591D292AD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160" y="400307"/>
            <a:ext cx="471261" cy="47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934F7F-404D-2145-1CF7-49B5175AF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91" y="399761"/>
            <a:ext cx="471261" cy="47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27F86571-0138-25C8-40E6-EC5B48CFC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431" y="399760"/>
            <a:ext cx="471261" cy="47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6053819-F474-D34D-71E5-B2A8B6AD2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199" y="401684"/>
            <a:ext cx="450110" cy="45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>
            <a:extLst>
              <a:ext uri="{FF2B5EF4-FFF2-40B4-BE49-F238E27FC236}">
                <a16:creationId xmlns:a16="http://schemas.microsoft.com/office/drawing/2014/main" id="{C8AEC700-9D54-0E30-6A92-8D973874D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078" y="398883"/>
            <a:ext cx="471261" cy="47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FE784F48-5E52-A933-32C8-778BA7B33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318" y="391109"/>
            <a:ext cx="471261" cy="47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27">
            <a:extLst>
              <a:ext uri="{FF2B5EF4-FFF2-40B4-BE49-F238E27FC236}">
                <a16:creationId xmlns:a16="http://schemas.microsoft.com/office/drawing/2014/main" id="{7A7E674D-FB6D-5E09-4090-FA5503746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558" y="391109"/>
            <a:ext cx="477152" cy="4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FC4630DF-FC62-EF36-EF33-46D46E9E6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853" y="389840"/>
            <a:ext cx="477152" cy="4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BC05A1E2-1C1C-22E0-CEBF-F154A94CD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951" y="388571"/>
            <a:ext cx="477152" cy="4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982B34E9-54FB-2D55-FFF5-202830A35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146" y="380262"/>
            <a:ext cx="477152" cy="4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F1BBC4EB-CD8B-64A6-C23B-144428513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350" y="382483"/>
            <a:ext cx="477152" cy="4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1B812C65-F361-4721-10D1-76FA94894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636" y="380262"/>
            <a:ext cx="477152" cy="4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EA3D610-A62D-A0F7-A0A9-EE149801F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479" y="380262"/>
            <a:ext cx="477152" cy="47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 descr="A hexagon with white text&#10;&#10;Description automatically generated">
            <a:extLst>
              <a:ext uri="{FF2B5EF4-FFF2-40B4-BE49-F238E27FC236}">
                <a16:creationId xmlns:a16="http://schemas.microsoft.com/office/drawing/2014/main" id="{A5151C1A-9EF8-D1E5-9520-BD7F4766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847" y="396620"/>
            <a:ext cx="423327" cy="482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A3039686-BDEC-1C16-9C45-46995D696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782" y="392991"/>
            <a:ext cx="483043" cy="48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73A6E599-4908-E33E-3289-FF302DE7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325" y="392990"/>
            <a:ext cx="483043" cy="48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99314155-41BE-941A-CAB0-E57E6DA36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691" y="396620"/>
            <a:ext cx="483043" cy="48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1879DF-0628-CE7E-70CA-7F27F73C8FD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39723" y="378321"/>
            <a:ext cx="512377" cy="512377"/>
          </a:xfrm>
          <a:prstGeom prst="rect">
            <a:avLst/>
          </a:prstGeom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D47B47F3-0DF1-2B76-8974-EA1239B97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908" y="392989"/>
            <a:ext cx="483043" cy="48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B67DBBD4-14B2-6A47-7B94-42966789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451" y="396620"/>
            <a:ext cx="483043" cy="48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508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Technology_Graphik_20220110" id="{B9BC9059-DD0D-7C48-9C1D-FD52D246D0A4}" vid="{89132FA7-44A6-CA45-B0F6-47F9BCB9AF46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00904AF8327C438AD123E3367740DE" ma:contentTypeVersion="4" ma:contentTypeDescription="Create a new document." ma:contentTypeScope="" ma:versionID="46f6d885e3584a9cf99de1778a61583b">
  <xsd:schema xmlns:xsd="http://www.w3.org/2001/XMLSchema" xmlns:xs="http://www.w3.org/2001/XMLSchema" xmlns:p="http://schemas.microsoft.com/office/2006/metadata/properties" xmlns:ns2="23d9a3c1-ec9a-4b0a-9858-754071193c63" targetNamespace="http://schemas.microsoft.com/office/2006/metadata/properties" ma:root="true" ma:fieldsID="9a6fa953f7deae22fce1a7cf5289d89f" ns2:_="">
    <xsd:import namespace="23d9a3c1-ec9a-4b0a-9858-754071193c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9a3c1-ec9a-4b0a-9858-754071193c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F2C8CF-DF6E-455F-A3B9-61837CEECC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9F74AC-739A-4655-A4E4-3F29EE8725B5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3d9a3c1-ec9a-4b0a-9858-754071193c63"/>
  </ds:schemaRefs>
</ds:datastoreItem>
</file>

<file path=customXml/itemProps3.xml><?xml version="1.0" encoding="utf-8"?>
<ds:datastoreItem xmlns:ds="http://schemas.openxmlformats.org/officeDocument/2006/customXml" ds:itemID="{1DD35CE8-17B7-4630-9F4F-6DE1901654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d9a3c1-ec9a-4b0a-9858-754071193c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TotalTime>96</TotalTime>
  <Words>927</Words>
  <Application>Microsoft Macintosh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Graphik</vt:lpstr>
      <vt:lpstr>Graphik Black</vt:lpstr>
      <vt:lpstr>GT Sectra Fine Rg</vt:lpstr>
      <vt:lpstr>ＭＳ Ｐゴシック</vt:lpstr>
      <vt:lpstr>Arial</vt:lpstr>
      <vt:lpstr>Calibri</vt:lpstr>
      <vt:lpstr>Wingdings</vt:lpstr>
      <vt:lpstr>Accenture 2020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Zhu, Lin</cp:lastModifiedBy>
  <cp:revision>28</cp:revision>
  <dcterms:created xsi:type="dcterms:W3CDTF">2022-10-21T16:58:14Z</dcterms:created>
  <dcterms:modified xsi:type="dcterms:W3CDTF">2026-04-01T18:54:41Z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0x010100E400904AF8327C438AD123E3367740DE</vt:lpwstr>
  </property>
  <property fmtid="{D5CDD505-2E9C-101B-9397-08002B2CF9AE}" pid="3" name="MediaServiceImageTags">
    <vt:lpwstr/>
  </property>
</Properties>
</file>